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802352d2504eeb" /><Relationship Type="http://schemas.openxmlformats.org/officeDocument/2006/relationships/extended-properties" Target="/docProps/app.xml" Id="R9ae155e185d6471e" /><Relationship Type="http://schemas.openxmlformats.org/officeDocument/2006/relationships/officeDocument" Target="/ppt/presentation.xml" Id="Re9f90b57250b43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e315ac38c74732"/>
  </p:sldMasterIdLst>
  <p:notesMasterIdLst>
    <p:notesMasterId xmlns:r="http://schemas.openxmlformats.org/officeDocument/2006/relationships" r:id="R6024b99a80c04a03"/>
  </p:notesMasterIdLst>
  <p:sldIdLst>
    <p:sldId xmlns:r="http://schemas.openxmlformats.org/officeDocument/2006/relationships" id="256" r:id="Rb40d7147949144d4"/>
    <p:sldId xmlns:r="http://schemas.openxmlformats.org/officeDocument/2006/relationships" id="257" r:id="R7677a9ce10634e21"/>
    <p:sldId xmlns:r="http://schemas.openxmlformats.org/officeDocument/2006/relationships" id="258" r:id="R71496d15c33a4be1"/>
    <p:sldId xmlns:r="http://schemas.openxmlformats.org/officeDocument/2006/relationships" id="259" r:id="Rd6d646222a354756"/>
    <p:sldId xmlns:r="http://schemas.openxmlformats.org/officeDocument/2006/relationships" id="260" r:id="R3b55d5b1b5584aa1"/>
    <p:sldId xmlns:r="http://schemas.openxmlformats.org/officeDocument/2006/relationships" id="261" r:id="R1dc2c6f9f9af4f28"/>
    <p:sldId xmlns:r="http://schemas.openxmlformats.org/officeDocument/2006/relationships" id="262" r:id="R3b20daf4dbcd49fa"/>
    <p:sldId xmlns:r="http://schemas.openxmlformats.org/officeDocument/2006/relationships" id="263" r:id="R921d78e60ccf41a8"/>
    <p:sldId xmlns:r="http://schemas.openxmlformats.org/officeDocument/2006/relationships" id="264" r:id="Rcd4974ceb65a43f7"/>
    <p:sldId xmlns:r="http://schemas.openxmlformats.org/officeDocument/2006/relationships" id="265" r:id="R78189b7ce49843ca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ba6bc1905042ca" /><Relationship Type="http://schemas.openxmlformats.org/officeDocument/2006/relationships/slideMaster" Target="/ppt/slideMasters/slideMaster1.xml" Id="R80e315ac38c74732" /><Relationship Type="http://schemas.openxmlformats.org/officeDocument/2006/relationships/notesMaster" Target="/ppt/notesMasters/notesMaster1.xml" Id="R6024b99a80c04a03" /><Relationship Type="http://schemas.openxmlformats.org/officeDocument/2006/relationships/presProps" Target="/ppt/presProps.xml" Id="Raf44347bc70c4114" /><Relationship Type="http://schemas.openxmlformats.org/officeDocument/2006/relationships/viewProps" Target="/ppt/viewProps.xml" Id="Rf7ad086580f245f6" /><Relationship Type="http://schemas.openxmlformats.org/officeDocument/2006/relationships/tableStyles" Target="/ppt/tableStyles.xml" Id="R7dcd2de113604d61" /><Relationship Type="http://schemas.openxmlformats.org/officeDocument/2006/relationships/slide" Target="/ppt/slides/slide1.xml" Id="Rb40d7147949144d4" /><Relationship Type="http://schemas.openxmlformats.org/officeDocument/2006/relationships/slide" Target="/ppt/slides/slide2.xml" Id="R7677a9ce10634e21" /><Relationship Type="http://schemas.openxmlformats.org/officeDocument/2006/relationships/slide" Target="/ppt/slides/slide3.xml" Id="R71496d15c33a4be1" /><Relationship Type="http://schemas.openxmlformats.org/officeDocument/2006/relationships/slide" Target="/ppt/slides/slide4.xml" Id="Rd6d646222a354756" /><Relationship Type="http://schemas.openxmlformats.org/officeDocument/2006/relationships/slide" Target="/ppt/slides/slide5.xml" Id="R3b55d5b1b5584aa1" /><Relationship Type="http://schemas.openxmlformats.org/officeDocument/2006/relationships/slide" Target="/ppt/slides/slide6.xml" Id="R1dc2c6f9f9af4f28" /><Relationship Type="http://schemas.openxmlformats.org/officeDocument/2006/relationships/slide" Target="/ppt/slides/slide7.xml" Id="R3b20daf4dbcd49fa" /><Relationship Type="http://schemas.openxmlformats.org/officeDocument/2006/relationships/slide" Target="/ppt/slides/slide8.xml" Id="R921d78e60ccf41a8" /><Relationship Type="http://schemas.openxmlformats.org/officeDocument/2006/relationships/slide" Target="/ppt/slides/slide9.xml" Id="Rcd4974ceb65a43f7" /><Relationship Type="http://schemas.openxmlformats.org/officeDocument/2006/relationships/slide" Target="/ppt/slides/slide10.xml" Id="R78189b7ce49843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4c651a33a243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eb775bc5774025" /><Relationship Type="http://schemas.openxmlformats.org/officeDocument/2006/relationships/notesMaster" Target="/ppt/notesMasters/notesMaster1.xml" Id="Ree3dab2d37f346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37c0a4a0904b44" /><Relationship Type="http://schemas.openxmlformats.org/officeDocument/2006/relationships/notesMaster" Target="/ppt/notesMasters/notesMaster1.xml" Id="Rfe451472fbb44e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74c3eeec5b493b" /><Relationship Type="http://schemas.openxmlformats.org/officeDocument/2006/relationships/notesMaster" Target="/ppt/notesMasters/notesMaster1.xml" Id="Rbbd942d898174c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9c65af77044402" /><Relationship Type="http://schemas.openxmlformats.org/officeDocument/2006/relationships/notesMaster" Target="/ppt/notesMasters/notesMaster1.xml" Id="R04a100b2c1104e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ad5ea1f0eb48ee" /><Relationship Type="http://schemas.openxmlformats.org/officeDocument/2006/relationships/notesMaster" Target="/ppt/notesMasters/notesMaster1.xml" Id="R4c9ce017429445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509e8226d640ea" /><Relationship Type="http://schemas.openxmlformats.org/officeDocument/2006/relationships/notesMaster" Target="/ppt/notesMasters/notesMaster1.xml" Id="R01481d15d4e14e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a91e2249914662" /><Relationship Type="http://schemas.openxmlformats.org/officeDocument/2006/relationships/notesMaster" Target="/ppt/notesMasters/notesMaster1.xml" Id="R84032c71eade4f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ef0dfdb95b42cd" /><Relationship Type="http://schemas.openxmlformats.org/officeDocument/2006/relationships/notesMaster" Target="/ppt/notesMasters/notesMaster1.xml" Id="R7a724760486940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bc7f8f16c44f6d" /><Relationship Type="http://schemas.openxmlformats.org/officeDocument/2006/relationships/notesMaster" Target="/ppt/notesMasters/notesMaster1.xml" Id="R60d36f7d87eb48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457705d27f44c7" /><Relationship Type="http://schemas.openxmlformats.org/officeDocument/2006/relationships/notesMaster" Target="/ppt/notesMasters/notesMaster1.xml" Id="R9d074f11684341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the model separates condition-level geometry from local variation and evaluates every track as untouched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framing: local geometry is a spatial signal; useful predictions must preserve width and boundary variation across power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all modalities are registered to physical x; the outer unit is the whole experimental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Pipeline: each outer track is excluded from feature, model, preprocessing, and calibration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Geometry: connected profilometry boundaries define positive local width; thermal frames advance 0.2 mm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Modeling: completed-sequence summaries predict condition baselines; frame history predicts local residuals. The primary mode is offline.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Result: offline four-track width MAE improves 20.7%, worst-track MAE 34.8%, and boundary MAE 21.1%.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Uncertainty: conditional intervals are selected for the primary model; a separate causal ablation tests online potential.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Limitations: R2 remains negative, only four tracks are available, and no causal substrate claim is supported.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Close: separating the condition shift from local variation is the main transferable modeling insight. Generative AI assisted code review, testing, debugging, and layout; team members reviewed the outputs, and AI did not create or alter measurements.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https://doi.org/10.5281/zenodo.21285367</a:t>
            </a:r>
          </a:p>
          <a:p xmlns:a="http://schemas.openxmlformats.org/drawingml/2006/main">
            <a:r>
              <a:t>- https://arxiv.org/abs/2607.07965</a:t>
            </a:r>
          </a:p>
          <a:p xmlns:a="http://schemas.openxmlformats.org/drawingml/2006/main">
            <a:r>
              <a:t>- results/improved_submission/metrics.json</a:t>
            </a:r>
          </a:p>
          <a:p xmlns:a="http://schemas.openxmlformats.org/drawingml/2006/main">
            <a:r>
              <a:t>- results/improved_submission/outer_fold_predictions.csv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1daa0364b4b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6121764e54b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72a8f9d3e46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5721c63f745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6c7dfc54c4e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4213f8735477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4ffba174a240c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4191bf6ae4d1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eebbf10ff44b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62da457e04d2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5a47b8285944b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2216CA-310C-4472-AA98-6C02EA0397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43C2962-2FB8-4D89-AD5B-6F21A67B83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F96C506-098D-4BD9-9D57-914FCCDFBD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9C67C8-EAC1-4816-9B81-E037852E0F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2525B1-66E2-4743-92A5-C241D5AD23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2C4CF5-C64E-4EAB-A432-EEFF62687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B24C8BF-E23A-4E0C-96A1-3F5B3E49989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849BC3-DD6F-497B-B18D-8559E07895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051D36-99AC-46D0-BF18-EF7681E692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E2B3E5-C3B4-47ED-B0C9-1799C78E1F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7884CA-9833-4786-8F6F-D5DDBD284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B83043-576B-4908-8E9E-DB7990F36B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CC9D905-408F-4DB5-A8BF-7F78DE431B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6BE8A03-CB92-46E7-8EA9-85BC6AC1D0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A17D2F-68DB-469F-92EA-23C042801C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979380-BA70-43CB-AF89-1D77C1E5D3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A1F2F1-04FC-4E8C-9DB9-805EE79061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3377F87-11D5-48B5-B133-48A79A21EE2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4BA8B9-74CC-41FB-8CD9-5E6DA3A278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0794229-32FE-4FCC-90D1-0DAE4CDD71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F3ECD40-6FA9-40DE-97E3-44A63CF83B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6EAB62-4957-45D8-86FB-7F0B70331F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39507A-E39A-4791-89B9-CC14670FCA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D655BE0-2049-4F27-875E-5C42AC4F944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8A7EB1F-A946-47B3-A108-E0611B3A44B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2AB893B-7BBF-468A-880F-264ACFF0843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7EAA385-B5CD-4BE0-B952-2671EBC946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9DB111B-919B-4476-9D16-1505D88C4E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ED828EE-37B6-43F8-9DCC-4C4B078F6B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EFE9E8-E98C-4843-B0CC-16C0CC2D56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D694B78-5191-4B55-A20B-23DFE9FC61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CE23C30-7B63-4060-8450-2FDDDBB7BB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66699FD-D43C-4D7E-BC5A-D9F8FDC140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EF78B94-F915-42E6-8A3B-59F2D9CD51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0E40BA-AA1C-4C4A-8BC5-DAA9D36454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7A00A09-30C1-4E2F-9F94-212ABF6F34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154728-263B-4F92-B484-3DD99ACAD0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4AC448-83DD-4BD5-A5FA-D322006264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6068E99-B508-4445-96B3-C2E6B6C4C3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9F66CFC-B916-4B1F-97B0-566434B261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802A3C-8F74-4EA2-897D-80747C3A6B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204EE36-276F-426C-BF34-4F0D338293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43E6EF-993B-42A1-9F92-898A923C12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E41E11A-4B52-4BD3-8A34-A710A66971E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88A46A9-D036-4A52-9EE2-E92FCC1C01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2CA176-09CD-45F7-9972-9E7F3442BF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245323-6553-4E05-930E-53D934E8D0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DDE7F90-932B-4B14-A714-2F64D9F49D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271C8E-E9D7-4FAF-B5B2-D8FEF0D8D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DEF29D-4083-4D66-89C0-8530FCC5CF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454994A-354D-42EA-943C-5DA6E417CF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51C0F1-1530-460E-A4A5-F6D2F27E14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4C2EA4-4712-446F-B15D-A959F3800F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248FF74-F62C-4CD8-A012-C1E9B8012C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95EC4D0-DC76-42B2-810D-F8BCB87522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1EE9F5-B6AD-47DF-9F1C-B1AD96CDB9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0B3BC5-F1E1-4C97-85DF-C2F2374C66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1F4FF6-CACF-490A-9891-E87CF96744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b3d1ddbbc546cd" /><Relationship Type="http://schemas.openxmlformats.org/officeDocument/2006/relationships/slideLayout" Target="/ppt/slideLayouts/slideLayout1.xml" Id="R648687f7ea324306" /><Relationship Type="http://schemas.openxmlformats.org/officeDocument/2006/relationships/slideLayout" Target="/ppt/slideLayouts/slideLayout2.xml" Id="R86e071bae65240ff" /><Relationship Type="http://schemas.openxmlformats.org/officeDocument/2006/relationships/slideLayout" Target="/ppt/slideLayouts/slideLayout3.xml" Id="R9c01f0340ed64904" /><Relationship Type="http://schemas.openxmlformats.org/officeDocument/2006/relationships/slideLayout" Target="/ppt/slideLayouts/slideLayout4.xml" Id="Re5eb403bec5d4ee8" /><Relationship Type="http://schemas.openxmlformats.org/officeDocument/2006/relationships/slideLayout" Target="/ppt/slideLayouts/slideLayout5.xml" Id="Rdbe9560fd1d8403e" /><Relationship Type="http://schemas.openxmlformats.org/officeDocument/2006/relationships/slideLayout" Target="/ppt/slideLayouts/slideLayout6.xml" Id="R88177cf81ac94af4" /><Relationship Type="http://schemas.openxmlformats.org/officeDocument/2006/relationships/slideLayout" Target="/ppt/slideLayouts/slideLayout7.xml" Id="Rb75e8343c94e41c2" /><Relationship Type="http://schemas.openxmlformats.org/officeDocument/2006/relationships/slideLayout" Target="/ppt/slideLayouts/slideLayout8.xml" Id="R3b8fd3519ac347a5" /><Relationship Type="http://schemas.openxmlformats.org/officeDocument/2006/relationships/slideLayout" Target="/ppt/slideLayouts/slideLayout9.xml" Id="R8ee1172ae654486d" /><Relationship Type="http://schemas.openxmlformats.org/officeDocument/2006/relationships/slideLayout" Target="/ppt/slideLayouts/slideLayout10.xml" Id="Rc18c642e55894d09" /><Relationship Type="http://schemas.openxmlformats.org/officeDocument/2006/relationships/slideLayout" Target="/ppt/slideLayouts/slideLayout11.xml" Id="Rfcaedb034074469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05E6BB7-BA4C-432B-802B-127AB31689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4AE361-B118-46AC-BF83-129B68ACFB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7E5CAA-FBF8-4BEE-837C-CEB532600EF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2D70728-E617-4CBF-B692-7E36E57F8EF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9F2AF5-0EFC-4C35-83A4-6B1C0807962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8687f7ea324306"/>
    <p:sldLayoutId xmlns:r="http://schemas.openxmlformats.org/officeDocument/2006/relationships" id="2147483650" r:id="R86e071bae65240ff"/>
    <p:sldLayoutId xmlns:r="http://schemas.openxmlformats.org/officeDocument/2006/relationships" id="2147483651" r:id="R9c01f0340ed64904"/>
    <p:sldLayoutId xmlns:r="http://schemas.openxmlformats.org/officeDocument/2006/relationships" id="2147483652" r:id="Re5eb403bec5d4ee8"/>
    <p:sldLayoutId xmlns:r="http://schemas.openxmlformats.org/officeDocument/2006/relationships" id="2147483653" r:id="Rdbe9560fd1d8403e"/>
    <p:sldLayoutId xmlns:r="http://schemas.openxmlformats.org/officeDocument/2006/relationships" id="2147483654" r:id="R88177cf81ac94af4"/>
    <p:sldLayoutId xmlns:r="http://schemas.openxmlformats.org/officeDocument/2006/relationships" id="2147483655" r:id="Rb75e8343c94e41c2"/>
    <p:sldLayoutId xmlns:r="http://schemas.openxmlformats.org/officeDocument/2006/relationships" id="2147483656" r:id="R3b8fd3519ac347a5"/>
    <p:sldLayoutId xmlns:r="http://schemas.openxmlformats.org/officeDocument/2006/relationships" id="2147483657" r:id="R8ee1172ae654486d"/>
    <p:sldLayoutId xmlns:r="http://schemas.openxmlformats.org/officeDocument/2006/relationships" id="2147483658" r:id="Rc18c642e55894d09"/>
    <p:sldLayoutId xmlns:r="http://schemas.openxmlformats.org/officeDocument/2006/relationships" id="2147483659" r:id="Rfcaedb034074469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d1e11532f74259" /><Relationship Type="http://schemas.openxmlformats.org/officeDocument/2006/relationships/notesSlide" Target="/ppt/notesSlides/notesSlide1.xml" Id="Rfc0185de9bfe44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3ccfd4298d4fc8" /><Relationship Type="http://schemas.openxmlformats.org/officeDocument/2006/relationships/notesSlide" Target="/ppt/notesSlides/notesSlide2.xml" Id="Rd788b826730341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66aff3f9f84427" /><Relationship Type="http://schemas.openxmlformats.org/officeDocument/2006/relationships/notesSlide" Target="/ppt/notesSlides/notesSlide3.xml" Id="R4fb321b6647b49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a91c2fce4b46f1" /><Relationship Type="http://schemas.openxmlformats.org/officeDocument/2006/relationships/notesSlide" Target="/ppt/notesSlides/notesSlide4.xml" Id="Rda3602c26a4240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8c69eb55c940f3" /><Relationship Type="http://schemas.openxmlformats.org/officeDocument/2006/relationships/notesSlide" Target="/ppt/notesSlides/notesSlide5.xml" Id="Ra23c5b14ce1145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cbf1ed12ac4785" /><Relationship Type="http://schemas.openxmlformats.org/officeDocument/2006/relationships/notesSlide" Target="/ppt/notesSlides/notesSlide6.xml" Id="R13d8f0052b4a4d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bafc309b7541b6" /><Relationship Type="http://schemas.openxmlformats.org/officeDocument/2006/relationships/image" Target="/ppt/media/image.png" Id="Rcfc10e0ebdbe4861" /><Relationship Type="http://schemas.openxmlformats.org/officeDocument/2006/relationships/notesSlide" Target="/ppt/notesSlides/notesSlide7.xml" Id="Rd26db5ed858241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3af65f53c7434b" /><Relationship Type="http://schemas.openxmlformats.org/officeDocument/2006/relationships/image" Target="/ppt/media/image2.png" Id="R4458217e47004c3d" /><Relationship Type="http://schemas.openxmlformats.org/officeDocument/2006/relationships/notesSlide" Target="/ppt/notesSlides/notesSlide8.xml" Id="R779caf68743444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6556fdc36a41b6" /><Relationship Type="http://schemas.openxmlformats.org/officeDocument/2006/relationships/notesSlide" Target="/ppt/notesSlides/notesSlide9.xml" Id="Rdd73323f1ece4b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9541b256c14717" /><Relationship Type="http://schemas.openxmlformats.org/officeDocument/2006/relationships/notesSlide" Target="/ppt/notesSlides/notesSlide10.xml" Id="R4763c7d16c6742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A902CB-D5F0-46E0-A349-5A4A4CFF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222F3B7-DF76-4CD6-A28E-D2EE1FAC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960120"/>
            <a:ext cx="105156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FB746FD-EFEB-4859-BABB-42CDA709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25880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NSF FUTURE MANUFACTURING DATA CHALLENGE  |  FINAL SUBMISSION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3DCCB65-6986-43F2-8346-B984BF1F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1060704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40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Predicting local DED track width
from thermal history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538730B-AF2D-49BC-8131-349D8179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69080"/>
            <a:ext cx="9875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C9D6DE"/>
                </a:solidFill>
                <a:latin typeface="Arial"/>
                <a:ea typeface="Arial"/>
                <a:cs typeface="Arial"/>
              </a:rPr>
              <a:t>Offline completed-sequence hierarchy with a causal ablation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B7B86CE-2A03-4B2C-BFFC-8632F306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074920"/>
            <a:ext cx="104241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65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6D8F681-042C-41D3-ACD7-840750EA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85232"/>
            <a:ext cx="10424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NSF-CHUDS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50" b="0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July 31, 2026   |   Nested four-track outer validation</a:t>
            </a:r>
          </a:p>
        </p:txBody>
      </p:sp>
    </p:spTree>
    <p:extLst>
      <p:ext uri="{BB962C8B-B14F-4D97-AF65-F5344CB8AC3E}">
        <p14:creationId xmlns:p14="http://schemas.microsoft.com/office/powerpoint/2010/main" val="16862913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34DDEF-46D5-49C7-BAA0-8C7493DC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304482B-9807-423C-BCDD-B23BAE76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D6D64BD-6E5A-481D-B016-2C606992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Can thermal history predict local geometry after printing?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63536C8-3B43-4B61-AFB3-2569ED29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215DC11-93A2-4BBB-99E4-3E04FB92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630936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400"/>
              </a:spcAft>
              <a:buNone/>
            </a:pPr>
            <a:r>
              <a:rPr sz="14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 DED track is not a uniform line: width and both boundaries vary along x.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400"/>
              </a:spcAft>
              <a:buNone/>
            </a:pPr>
            <a:r>
              <a:rPr sz="14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Thermal frames record the moving melt pool; profilometry records final geometry.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400"/>
              </a:spcAft>
              <a:buNone/>
            </a:pPr>
            <a:r>
              <a:rPr sz="14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The modeling task maps a frame and its causal history to the matching local segment.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400"/>
              </a:spcAft>
              <a:buNone/>
            </a:pPr>
            <a:r>
              <a:rPr sz="14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 credible result must generalize across laser power and quantify uncertainty.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4DC3A35-9143-4B2F-8515-7A1F063A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783080"/>
            <a:ext cx="4343400" cy="4297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7B7A279-9380-4F38-ADC9-416D4C1E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783080"/>
            <a:ext cx="434340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624F66C-9E4A-4A23-B505-1BE47698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OUR TASK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5E34149-888A-4604-8EBD-1DF8A256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450592"/>
            <a:ext cx="3749039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7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Predict local width and boundary position from thermal history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FFAAE52-7834-440D-98A5-A8548CCC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794760"/>
            <a:ext cx="370332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0511E22-8C34-4372-8753-233B4508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977639"/>
            <a:ext cx="3749039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900"/>
              </a:spcAft>
              <a:buNone/>
            </a:pPr>
            <a:r>
              <a:rPr sz="120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Ground truth: center, width, and boundaries from profilometry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900"/>
              </a:spcAft>
              <a:buNone/>
            </a:pPr>
            <a:r>
              <a:rPr sz="120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Inputs: completed thermal sequence only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900"/>
              </a:spcAft>
              <a:buNone/>
            </a:pPr>
            <a:r>
              <a:rPr sz="120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Evaluation: four nested leave-one-track-out outer tests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98A5013-B554-4974-8913-2F12CE4F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B8A1C7-4B13-4B16-9E4A-41E8386F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4D6C048-3932-4AE2-B502-7DA7A2E9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69199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5FB9EB-0AA0-415B-9F80-3DB4889E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4E383F9-7745-4701-9223-E77600D7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THE DATA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98BC370-1424-4533-A103-71FEECD2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Three modalities, one physical x-axis, four untouched outer tests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F4CAC17-B442-4E21-B729-CAE783F1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E84D2A2-BE30-48CE-AF69-D6B71CA2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333237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THERMAL VIDEO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9190B4-55AA-4627-AE47-18E66AE2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21408"/>
            <a:ext cx="324093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400 active frames per track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CE7B6C2-2656-47B0-A3CE-2B37AB1E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3240938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400 active frames per track at 50 fps.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10 mm/s scan speed gives 0.2 mm per frame.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Size, temperature, gradients, and asymmetry.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Causal history lives in the TIME domain.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7CD8A26-3E48-4609-9107-F5181846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1783080"/>
            <a:ext cx="333237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SEM IMAGERY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000D46A-3FA1-40F4-9C70-61DEDB7F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2121408"/>
            <a:ext cx="324093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Post-process SEM audit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CE37D33-6E23-4342-AA7A-2B796896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2880360"/>
            <a:ext cx="3240938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Available imagery is post-process.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Unavailable at frame-time inference.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Excluded from predictive candidates.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No causal substrate claim.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5DFFD67-422B-4B37-8CEA-38E82342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186" y="1783080"/>
            <a:ext cx="9144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8CBB9E4-A8E5-41C8-B843-378EACE7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1783080"/>
            <a:ext cx="333237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3D PROFILOMETRY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743B91F-4C43-4489-AB50-011BCCD5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2121408"/>
            <a:ext cx="324093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Local width and boundaries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7C3BEE6-6D34-4BCF-85EC-17E8CFEF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2880360"/>
            <a:ext cx="3240938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Robust cross-track substrate detrending.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Connected 30%-height boundary crossings.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0.40 mm physical smoothing window.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Missing acquisition gaps remain excluded.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EC9EA54-3604-4B33-AF70-35318E6C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24" y="1783080"/>
            <a:ext cx="9144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E9B4BE2-C801-42EA-9D2D-18A037EE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38928"/>
            <a:ext cx="1109441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B1D7DF2-61A2-447F-8DE8-040138E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38928"/>
            <a:ext cx="457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78E391F-FBB4-4FE1-8916-02F26DF8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30952"/>
            <a:ext cx="10607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Every track is untouched once; model, feature family, preprocessing, and calibration are selected only inside the other three tracks.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5C89960-52D6-4FC7-B446-1AE6807D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B7267ED-3DC1-4CC2-82A6-CC1D4FFF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C698B4D-46CC-4F51-B0FB-23E801BA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84333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A048A1-8E3F-4B49-9F93-E9468C59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E0982E1-A09D-4C61-BA56-B28B7039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OUR APPROACH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1CBF8C-4861-4DBE-A46C-C7D02B64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From raw frames to leakage-safe nested predictions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AFCD9EB-EBE4-41FC-A376-6D4AAC4E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C951BE-2B8B-4CE2-811A-9C125B89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10512"/>
            <a:ext cx="914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40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61100B7-C4E4-4E3D-B7B4-C505D5FA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06040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45D2F21-8E2E-4A71-83FF-1649F855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43200"/>
            <a:ext cx="23164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8C54598-FC79-4B31-90C9-AB58228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82112"/>
            <a:ext cx="2270683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Detrend each cross-section and find connected left/right crossings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5F836C-3E58-4DB4-8BF9-337A42E6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3" y="1810512"/>
            <a:ext cx="914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40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D8DD30F-86ED-44AB-9425-AAD57E8F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3" y="2606040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CFC6A7C-C993-41E2-B59F-04D136E0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3" y="2743200"/>
            <a:ext cx="23164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Align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1647F28-B7FB-4C00-8181-726D6884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3" y="3182112"/>
            <a:ext cx="2270683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Use physical x in mm; never normalized row position</a:t>
            </a:r>
          </a:p>
        </p:txBody>
      </p:sp>
      <p:sp>
        <p:nvSpPr>
          <p:cNvPr id="14" name="Chevron 13">
            <a:extLst xmlns:a="http://schemas.openxmlformats.org/drawingml/2006/main">
              <a:ext uri="{FF2B5EF4-FFF2-40B4-BE49-F238E27FC236}">
                <a16:creationId xmlns:a16="http://schemas.microsoft.com/office/drawing/2014/main" id="{2C319C29-898F-4A3E-A2C6-56217EF4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195" y="2057400"/>
            <a:ext cx="237744" cy="310896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E032B8B-FB32-4735-B63A-FE18D7B3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567" y="1810512"/>
            <a:ext cx="914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40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2DB0D4F-D914-4959-ADA9-9C665928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567" y="2606040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9E1DC9E-2F68-48E6-858C-1671F4CA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567" y="2743200"/>
            <a:ext cx="23164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Decompose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18F5F75-DC13-44A4-A435-8F76A890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567" y="3182112"/>
            <a:ext cx="2270683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Separate condition baseline from local center/log-width residuals</a:t>
            </a:r>
          </a:p>
        </p:txBody>
      </p:sp>
      <p:sp>
        <p:nvSpPr>
          <p:cNvPr id="19" name="Chevron 18">
            <a:extLst xmlns:a="http://schemas.openxmlformats.org/drawingml/2006/main">
              <a:ext uri="{FF2B5EF4-FFF2-40B4-BE49-F238E27FC236}">
                <a16:creationId xmlns:a16="http://schemas.microsoft.com/office/drawing/2014/main" id="{F92207FF-5FFA-42D5-8884-91F4E871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799" y="2057400"/>
            <a:ext cx="237744" cy="310896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B9C9C03-1108-456E-B389-5F414E09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171" y="1810512"/>
            <a:ext cx="914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40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BAA0064-BD2D-477A-AA23-29DA0F44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171" y="2606040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1562EA7-76C2-4946-AA3A-1903C62C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171" y="2743200"/>
            <a:ext cx="23164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A6A2AFB-1B62-4655-9F82-CFA1F3BF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171" y="3182112"/>
            <a:ext cx="2270683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Hold out each track once; select candidates inside the other three</a:t>
            </a:r>
          </a:p>
        </p:txBody>
      </p:sp>
      <p:sp>
        <p:nvSpPr>
          <p:cNvPr id="24" name="Chevron 23">
            <a:extLst xmlns:a="http://schemas.openxmlformats.org/drawingml/2006/main">
              <a:ext uri="{FF2B5EF4-FFF2-40B4-BE49-F238E27FC236}">
                <a16:creationId xmlns:a16="http://schemas.microsoft.com/office/drawing/2014/main" id="{C463DBAA-3421-47E8-87DA-BB0635D9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403" y="2057400"/>
            <a:ext cx="237744" cy="310896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DD6FE97-9B71-4819-A11B-6BC200BD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11094415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6055B01-07A3-451C-B95D-9E2EAC3B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457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A57751A-9898-4FE0-9D5D-AAFA10AF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29200"/>
            <a:ext cx="10607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</a:pPr>
            <a:r>
              <a:rPr sz="130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Audit rule: no held-out geometry, test-track labels, or post-process SEM enters prediction or selection. The primary model is offline; the causal ablation forbids future frames.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C4054FF-EB5A-4A84-89B2-0E8B94EC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9F290CD-DBD4-47CF-8D2C-82031992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4537C2B-10F9-4682-9C4F-1461DF22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04428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4E5546-E613-41C0-A6A0-C824F203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8815CC-595D-4FF5-8059-F7E9AABD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METHOD — STEPS 1–2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0F99B34-52D9-4BFE-941A-9D87F965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Ground truth first: robust boundaries, then physical alignment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823DA40-9FD4-4619-9975-8B88B01B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DACC504-CA7B-4906-93B8-49877F74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318607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600851C-94D7-4995-9472-2C6A02F6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93392"/>
            <a:ext cx="531860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STEP 1 - LOCAL GEOMETRY EXTRACTION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9241ED-E856-48E4-BB51-5D649349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40864"/>
            <a:ext cx="5044287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65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Measure one connected bead in every valid cross-section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8E87CC8-7997-481A-A25F-21C96F01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5090007" cy="2667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Interpolate missing y pixels only within each cross-section.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Fit substrate slope outside the bead shoulders.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Locate connected 30%-of-peak crossings around the central maximum.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Smooth left and right boundaries over 0.40 mm.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5171490-CFC0-4C39-83BC-823C538E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7" y="1783080"/>
            <a:ext cx="5318607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4F95574-39EB-494D-8698-190D6447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1993392"/>
            <a:ext cx="531860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STEP 2 - PHYSICAL TIME-SPACE ALIGNMENT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0F0A1D5-3A87-4713-826E-A414DD9B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2340864"/>
            <a:ext cx="5044287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65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Match each thermal frame to measured x in millimeters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F888C88-82C7-4882-BD59-E0356973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3246120"/>
            <a:ext cx="5090007" cy="2667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Detect laser shutoff; retain the prior 400 active frames.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Extract hot components above a fixed 1500 K threshold.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Convert time to x at 10 mm/s and 50 fps.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Reject frames more than 0.10 mm from valid profilometry.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B3C1CC-748B-4251-B223-2246CF77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75" y="1783080"/>
            <a:ext cx="9144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4A1CBCF-A451-45E4-9702-67E26A00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40060BC-6D99-4CD9-A69C-2CA5045B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03797F8-23B3-47A4-A0AA-BC60B7BF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475224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C330DA-A997-4CF4-93D0-41ED77F3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02F3F44-9488-4169-9D7A-E784CDC2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METHOD — STEP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177D5DF-43B1-4162-A767-AB4C0CEA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Separate condition width from local variation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64A107B-F0C6-46A4-B0ED-F9A1ADAE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A504AB-4C02-49DE-AE5D-A94FACF4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318607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FA138DB-0CE2-458E-9954-9EEDB967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93392"/>
            <a:ext cx="531860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CAUSAL MULTISCALE HISTORY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7121DB1-5E83-4722-BA0A-28168E8E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40864"/>
            <a:ext cx="504428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65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Describe the pool now, then summarize how it arrived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B6D8DBD-095C-43D7-AF9A-739873D4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91840"/>
            <a:ext cx="5090007" cy="2667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Pool axes, temperature, mass, gradients, and asymmetry.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Cooling-tail decay, centroid velocity, and shape change.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5-, 10-, and 20-frame slopes, persistence, and changes.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Robust local normalization isolates within-track departures.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3FD0E4B-EB31-4614-8BD2-CEA2CDEC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7" y="1783080"/>
            <a:ext cx="5318607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55C9990-AC47-4EF9-8177-FB6E9828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1993392"/>
            <a:ext cx="531860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CONSTRAINED NESTED MODEL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B4D6728-8A4B-49A3-8EB2-614EA1AB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2340864"/>
            <a:ext cx="504428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65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Predict a track baseline, then local residuals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F8601DF-9A73-426C-B125-9FC4D5D8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3291840"/>
            <a:ext cx="5090007" cy="2667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Full-sequence summaries predict baseline center and log-width.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Frame history jointly predicts center and log-width residuals.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exp(log-width) keeps width positive; boundaries stay ordered.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Causal ablation swaps in expanding summaries.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86F9190-972D-4DBE-AB9A-4FA4F06B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75" y="1783080"/>
            <a:ext cx="9144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944188A-CAAE-4E1A-930A-EA0E55BD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3E32137-15FE-43C3-BE83-C9DB44AD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E435B46-6493-4D3B-89BF-46884F5C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844548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F6ABE87-FEF8-4ED7-B7B8-14262A6A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21A93A-1214-44C8-A2FD-73D025B7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4636C07-B210-4DCF-91A8-303A0FCD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Offline four-track MAE falls 20.7%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81D62FE-E731-4021-B597-D41A64C4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9DEA742-AFCE-4E1A-8309-6660D0CF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9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EXHIBIT 1 - FOUR UNTOUCHED OUTER TRACKS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92F3B25-BB68-4EA3-A2B5-C57A2C24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32" y="1874520"/>
            <a:ext cx="5244134" cy="42519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10e0ebdbe48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38352" y="1920240"/>
            <a:ext cx="5152694" cy="4160520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6F88E7-869E-4AD9-A86B-97A01E30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28800"/>
            <a:ext cx="24688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30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148 µm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10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Track-balanced MAE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AA236D-7CCA-4EA7-8DA1-739E535B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828800"/>
            <a:ext cx="2194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30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20.7% lower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10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vs. direct Ridge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DDE5C09-2BAF-4E9A-902D-B9E39E1D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874519"/>
            <a:ext cx="914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6720045-4847-4485-AE8F-FE1DD03B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71800"/>
            <a:ext cx="49377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3BD4768-4EF7-40B6-AA8E-D2E832B1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4937760" cy="2476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Track-balanced width MAE: 0.187 → 0.148 mm.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Worst-track MAE: 0.308 → 0.201 mm.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Mean boundary MAE: 0.180 → 0.142 mm.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Track-balanced R²: -0.55 → -0.13.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CD18309-26E1-43D8-AA39-4559AC6D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575B08-A8EA-4523-9C09-60FAE922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C1A5B01-B17B-4B69-AC86-07347633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735221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49EE81-AB09-4B37-BC28-C09B3BB1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F111F7-5EDC-4EBE-B069-5CDB09F2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THE KEY INSIGHT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6D938DD-453A-4D11-859A-7DFC321C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Local scaling recovers variation and sharpens uncertainty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3F1A556-FB9A-4CE4-9D7F-8669CEDB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83D0B0F-847C-48A5-BDEE-6958FEB7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5943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9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EXHIBIT 2 - BEFORE / AFTER SCORECARD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CE9828A-55EB-45AC-9474-DB43C76C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9" y="1939355"/>
            <a:ext cx="6629400" cy="39851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8217e47004c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02919" y="1985075"/>
            <a:ext cx="6537960" cy="3893689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057D434-9C25-4F99-B229-9B1C176C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920240"/>
            <a:ext cx="4114800" cy="402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768F7F1-B516-4799-8853-3E073F0E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920240"/>
            <a:ext cx="411480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1FB90E6-792A-46C6-B326-48A9A22D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212848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WHAT CHANGED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319E59E-3D47-4728-840F-B734F118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560320"/>
            <a:ext cx="35661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65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Condition baseline + local residual wins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945E9FD-9567-482D-878E-83862550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3566160"/>
            <a:ext cx="35661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2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1. Predicted variation grows from 21% to 32% of measured scale.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2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2. Conditional intervals cover 93.5% at 0.780 mm mean width.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2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3. Global intervals cover 94.9% but are wider at 0.877 mm.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2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4. Width expands from 0.629 mm easy to 0.944 mm hard.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C93802D-25A2-4F9C-A499-391FA4C8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AA2B95D-5BDE-487F-AE88-75F7469F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DAC1755-F419-49E2-9877-A5A71691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05616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CB5C32C-3DFB-41AB-BFD9-2BB920F8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DCF5E28-1FE4-43D5-8241-18F61838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HONEST ASSESSMENT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91A8BA8-A40E-44B6-878E-732C3F72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Improved, but not ready for closed-loop control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FE3AEE5-D655-45CE-9982-8A1063DD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1FC4F49-607C-4784-841F-14C1042B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630936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300"/>
              </a:spcAft>
              <a:buNone/>
            </a:pPr>
            <a:r>
              <a:rPr sz="14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Primary R² improves from -0.55 to -0.13 but remains negative.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300"/>
              </a:spcAft>
              <a:buNone/>
            </a:pPr>
            <a:r>
              <a:rPr sz="14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Primary mode is offline after the thermal scan completes.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300"/>
              </a:spcAft>
              <a:buNone/>
            </a:pPr>
            <a:r>
              <a:rPr sz="14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Causal ablation: 0.157 mm MAE and -0.18 R².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300"/>
              </a:spcAft>
              <a:buNone/>
            </a:pPr>
            <a:r>
              <a:rPr sz="14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Post-process SEM is excluded from prediction.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300"/>
              </a:spcAft>
              <a:buNone/>
            </a:pPr>
            <a:r>
              <a:rPr sz="14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No closed-loop or causal substrate claim.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7D66947-D480-4D33-A6B7-47AD3CB8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828800"/>
            <a:ext cx="4343400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676B3AB-F1BA-4C3F-84C6-D971140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828800"/>
            <a:ext cx="434340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70DE262-26CA-4B34-9360-E7D5F2CB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121408"/>
            <a:ext cx="37490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WHAT WOULD CLOSE THE GAP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CF8A358-DDCC-4FA4-B051-4BEC82F5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514600"/>
            <a:ext cx="379476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Add more powers, plates, repeats, and substrate pre-scans.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Register SEM before processing instead of inferring substrate from post-scan tiles.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Calibrate intervals by laser-power regime or hierarchical conformal methods.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Predict a full contour distribution, not only center plus width.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D2F6C8-978C-4394-8308-21FBBEEB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4A3F53E-2F1F-4A48-ACAC-03A301B2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0EA90E7-DCD6-4A4F-B88C-50604860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326171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F2F213-6D77-428D-AFA7-66A7A605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28E9953-D653-4EA2-960F-1CC99524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TAKEAWAYS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87B2254-3AF0-41E6-B493-E750BCF3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Separate the condition, then learn the variation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2A4F66D-6519-49E1-A777-679481AA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7C9B05-B073-4682-A64B-11AE64CE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822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34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4214F2-9BFF-4033-9951-BE591D9B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87168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4D4750D-6CE8-466B-B554-4C586FEE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33472"/>
            <a:ext cx="324093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5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Four-track accuracy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5A2AA94-7993-4789-B4D5-9B765961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319521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Width MAE falls 20.7%; worst-track error falls 34.8%; boundary MAE falls 21.1%.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B5CC3F-A5CF-4B7A-A23A-CFCAB6B4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1783080"/>
            <a:ext cx="822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34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4ED5774-EFC8-4C72-8F67-16BC8176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2487168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EA16EF5-C3AC-4DAF-B81B-A8EE77D0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2633472"/>
            <a:ext cx="324093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5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Physical consistency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EFD025F-2AC2-45F4-B81D-A7B7A906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3246120"/>
            <a:ext cx="319521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Positive width and one shared center reconstruct ordered left/right boundaries.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B14212F-4FD9-420C-91A0-470DC538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186" y="1783080"/>
            <a:ext cx="9144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4942278-BAB7-4E4F-88FD-C959BCCE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1783080"/>
            <a:ext cx="822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34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9FF48E6-3D1A-45E5-AB99-F41C7830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2487168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B4996ED-5ABA-43D9-A6C4-D460475D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2633472"/>
            <a:ext cx="324093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5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Useful uncertainty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AF5FC5C-E008-408B-8BD7-53B5ACD2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3246120"/>
            <a:ext cx="319521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Conditional intervals reach 93.5% and expand in difficult regions.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1EA3EAE-24AB-41A4-8C10-42899BF3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24" y="1783080"/>
            <a:ext cx="9144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AF69CA9-78B9-425C-95FB-431FD76A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00600"/>
            <a:ext cx="11094415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685D924-8D55-443B-9AB9-6CA8298D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29200"/>
            <a:ext cx="10241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Aft>
                <a:spcPts val="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“Condition shifts and local variation are different problems.”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0DFE6BD-0847-4043-B812-39DAC70B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623560"/>
            <a:ext cx="10241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00A9F4"/>
                </a:solidFill>
                <a:latin typeface="Arial"/>
                <a:ea typeface="Arial"/>
                <a:cs typeface="Arial"/>
              </a:rPr>
              <a:t>Questions?  |  github.com/alphons3t/nsf-chuds  |  github.com/joeyperez1-debug/nsfsubmit
Generative AI assisted code review, testing, debugging, and layout; measurements were not created or altered by AI.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01466E0-5691-4CA9-BFBB-5E8280A1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EF40976-30F6-4941-AC19-51BD3F32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2C70779-A568-456A-A38D-133A56E8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429430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2026-07-28T00:11:08.3300000Z</dcterms:created>
  <dcterms:modified xsi:type="dcterms:W3CDTF">2026-07-28T00:11:08.3300000Z</dcterms:modified>
</coreProperties>
</file>