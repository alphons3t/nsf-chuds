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9FB4C2"/>
                </a:solidFill>
                <a:latin typeface="Arial"/>
              </a:rPr>
              <a:t>NSF FUTURE MANUFACTURING DATA CHALLENGE  |  FINALIST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607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Predicting DED track geometry
via multi-modal sensor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C9D6DE"/>
                </a:solidFill>
                <a:latin typeface="Arial"/>
              </a:rPr>
              <a:t>Fusing in-situ thermal history with substrate surface awareness to predict local track height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5074920"/>
            <a:ext cx="10424160" cy="9144"/>
          </a:xfrm>
          <a:prstGeom prst="rect">
            <a:avLst/>
          </a:prstGeom>
          <a:solidFill>
            <a:srgbClr val="2E4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Team Submission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FB4C2"/>
                </a:solidFill>
                <a:latin typeface="Arial"/>
              </a:rPr>
              <a:t>July 31, 2026   |   github.com/alphons3t/nsf-chuds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Can we predict part geometry during printing?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50" b="1" i="0">
                <a:solidFill>
                  <a:srgbClr val="0A0A0A"/>
                </a:solidFill>
                <a:latin typeface="Arial"/>
              </a:rPr>
              <a:t>Directed Energy Deposition (DED)</a:t>
            </a:r>
            <a:r>
              <a:rPr sz="1450" b="0" i="0">
                <a:solidFill>
                  <a:srgbClr val="0A0A0A"/>
                </a:solidFill>
                <a:latin typeface="Arial"/>
              </a:rPr>
              <a:t> builds metal parts track by track — but final geometry varies along every track.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50" b="0" i="0">
                <a:solidFill>
                  <a:srgbClr val="0A0A0A"/>
                </a:solidFill>
                <a:latin typeface="Arial"/>
              </a:rPr>
              <a:t>In-situ sensors watch the melt pool in real time; </a:t>
            </a:r>
            <a:r>
              <a:rPr sz="1450" b="1" i="0">
                <a:solidFill>
                  <a:srgbClr val="0A0A0A"/>
                </a:solidFill>
                <a:latin typeface="Arial"/>
              </a:rPr>
              <a:t>post-process metrology</a:t>
            </a:r>
            <a:r>
              <a:rPr sz="1450" b="0" i="0">
                <a:solidFill>
                  <a:srgbClr val="0A0A0A"/>
                </a:solidFill>
                <a:latin typeface="Arial"/>
              </a:rPr>
              <a:t> reveals what was actually built — hours later.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50" b="0" i="0">
                <a:solidFill>
                  <a:srgbClr val="0A0A0A"/>
                </a:solidFill>
                <a:latin typeface="Arial"/>
              </a:rPr>
              <a:t>The challenge: connect what the camera </a:t>
            </a:r>
            <a:r>
              <a:rPr sz="1450" b="1" i="0">
                <a:solidFill>
                  <a:srgbClr val="0A0A0A"/>
                </a:solidFill>
                <a:latin typeface="Arial"/>
              </a:rPr>
              <a:t>sees during printing</a:t>
            </a:r>
            <a:r>
              <a:rPr sz="1450" b="0" i="0">
                <a:solidFill>
                  <a:srgbClr val="0A0A0A"/>
                </a:solidFill>
                <a:latin typeface="Arial"/>
              </a:rPr>
              <a:t> to the </a:t>
            </a:r>
            <a:r>
              <a:rPr sz="1450" b="1" i="0">
                <a:solidFill>
                  <a:srgbClr val="0A0A0A"/>
                </a:solidFill>
                <a:latin typeface="Arial"/>
              </a:rPr>
              <a:t>local geometric variation</a:t>
            </a:r>
            <a:r>
              <a:rPr sz="1450" b="0" i="0">
                <a:solidFill>
                  <a:srgbClr val="0A0A0A"/>
                </a:solidFill>
                <a:latin typeface="Arial"/>
              </a:rPr>
              <a:t> measured after printing.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50" b="0" i="0">
                <a:solidFill>
                  <a:srgbClr val="0A0A0A"/>
                </a:solidFill>
                <a:latin typeface="Arial"/>
              </a:rPr>
              <a:t>If we can do this, we unlock </a:t>
            </a:r>
            <a:r>
              <a:rPr sz="1450" b="1" i="0">
                <a:solidFill>
                  <a:srgbClr val="0A0A0A"/>
                </a:solidFill>
                <a:latin typeface="Arial"/>
              </a:rPr>
              <a:t>real-time quality prediction and closed-loop control</a:t>
            </a:r>
            <a:r>
              <a:rPr sz="1450" b="0" i="0">
                <a:solidFill>
                  <a:srgbClr val="0A0A0A"/>
                </a:solidFill>
                <a:latin typeface="Arial"/>
              </a:rPr>
              <a:t> for metal additive manufacturing.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9480" y="1783080"/>
            <a:ext cx="434340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1783080"/>
            <a:ext cx="4343400" cy="411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103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OUR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450592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051C2C"/>
                </a:solidFill>
                <a:latin typeface="Georgia"/>
              </a:rPr>
              <a:t>Predict local track height along the laser path from in-situ monitoring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794760"/>
            <a:ext cx="3703320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3977639"/>
            <a:ext cx="374903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51C2C"/>
                </a:solidFill>
                <a:latin typeface="Arial"/>
              </a:rPr>
              <a:t>Ground truth:</a:t>
            </a:r>
            <a:r>
              <a:rPr sz="1200" b="0" i="0">
                <a:solidFill>
                  <a:srgbClr val="0A0A0A"/>
                </a:solidFill>
                <a:latin typeface="Arial"/>
              </a:rPr>
              <a:t>  leveled 3D profilometer height maps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51C2C"/>
                </a:solidFill>
                <a:latin typeface="Arial"/>
              </a:rPr>
              <a:t>Inputs:</a:t>
            </a:r>
            <a:r>
              <a:rPr sz="1200" b="0" i="0">
                <a:solidFill>
                  <a:srgbClr val="0A0A0A"/>
                </a:solidFill>
                <a:latin typeface="Arial"/>
              </a:rPr>
              <a:t>  thermal video + SEM substrate imagery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51C2C"/>
                </a:solidFill>
                <a:latin typeface="Arial"/>
              </a:rPr>
              <a:t>Scope:</a:t>
            </a:r>
            <a:r>
              <a:rPr sz="1200" b="0" i="0">
                <a:solidFill>
                  <a:srgbClr val="0A0A0A"/>
                </a:solidFill>
                <a:latin typeface="Arial"/>
              </a:rPr>
              <a:t>  4 tracks spanning different laser powers &amp; scan speeds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Three sensors, three languages: time, texture, and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332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THERMAL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21408"/>
            <a:ext cx="32409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051C2C"/>
                </a:solidFill>
                <a:latin typeface="Georgia"/>
              </a:rPr>
              <a:t>In-situ melt pool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3240938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400 frames per track  ·  50 fps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14 µm/pixel  ·  5.6 × 5.6 mm field of view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Captures melt pool length, width, area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Lives in the TIME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1783080"/>
            <a:ext cx="3332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SEM IMAGERY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2498" y="2121408"/>
            <a:ext cx="32409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051C2C"/>
                </a:solidFill>
                <a:latin typeface="Georgia"/>
              </a:rPr>
              <a:t>Substrate surface morphology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498" y="2880360"/>
            <a:ext cx="3240938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Tiled .tif images along each track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Reveals gouges, texture &amp; roughness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Used only outside the track (no leakage)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Lives in the TEXTURE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2186" y="1783080"/>
            <a:ext cx="9144" cy="301752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0636" y="1783080"/>
            <a:ext cx="33323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3D PROFILOMETRY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0636" y="2121408"/>
            <a:ext cx="324093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051C2C"/>
                </a:solidFill>
                <a:latin typeface="Georgia"/>
              </a:rPr>
              <a:t>Post-process 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0636" y="2880360"/>
            <a:ext cx="3240938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Bruker/Wyko full-field height maps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x, y in mm  ·  z resolved to nanometers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Defines the true deposited track height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</a:rPr>
              <a:t>Lives in the SPACE domain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80324" y="1783080"/>
            <a:ext cx="9144" cy="301752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38928"/>
            <a:ext cx="11094415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138928"/>
            <a:ext cx="45720" cy="9601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51C2C"/>
                </a:solidFill>
                <a:latin typeface="Arial"/>
              </a:rPr>
              <a:t>The core difficulty:  </a:t>
            </a:r>
            <a:r>
              <a:rPr sz="1350" b="0" i="0">
                <a:solidFill>
                  <a:srgbClr val="0A0A0A"/>
                </a:solidFill>
                <a:latin typeface="Arial"/>
              </a:rPr>
              <a:t>these modalities share no common coordinate system — dynamic video frames must be fused with static spatial maps before any model can learn.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From three raw sensors to one physical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1051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2251FF"/>
                </a:solidFill>
                <a:latin typeface="Georgia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606040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051C2C"/>
                </a:solidFill>
                <a:latin typeface="Arial"/>
              </a:rPr>
              <a:t>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22706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Fit &amp; subtract a 2D plane from the raw 3D scan to isolate true track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63" y="181051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2251FF"/>
                </a:solidFill>
                <a:latin typeface="Georgia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2606040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963" y="2743200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051C2C"/>
                </a:solidFill>
                <a:latin typeface="Arial"/>
              </a:rPr>
              <a:t>Align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7963" y="3182112"/>
            <a:ext cx="22706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Map 400 thermal frames onto the 20–100 mm spatial axis of the track</a:t>
            </a:r>
          </a:p>
        </p:txBody>
      </p:sp>
      <p:sp>
        <p:nvSpPr>
          <p:cNvPr id="14" name="Chevron 13"/>
          <p:cNvSpPr/>
          <p:nvPr/>
        </p:nvSpPr>
        <p:spPr>
          <a:xfrm>
            <a:off x="2938195" y="2057400"/>
            <a:ext cx="237744" cy="310896"/>
          </a:xfrm>
          <a:prstGeom prst="chevron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181051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2251FF"/>
                </a:solidFill>
                <a:latin typeface="Georgia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1567" y="2606040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743200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051C2C"/>
                </a:solidFill>
                <a:latin typeface="Arial"/>
              </a:rPr>
              <a:t>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1567" y="3182112"/>
            <a:ext cx="22706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Build thermal-history and substrate-awareness features at each location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5711799" y="2057400"/>
            <a:ext cx="237744" cy="310896"/>
          </a:xfrm>
          <a:prstGeom prst="chevron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171" y="181051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2251FF"/>
                </a:solidFill>
                <a:latin typeface="Georgia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171" y="2606040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171" y="2743200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051C2C"/>
                </a:solidFill>
                <a:latin typeface="Arial"/>
              </a:rPr>
              <a:t>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3182112"/>
            <a:ext cx="22706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Train a Random Forest on 4 tracks to predict local track height</a:t>
            </a:r>
          </a:p>
        </p:txBody>
      </p:sp>
      <p:sp>
        <p:nvSpPr>
          <p:cNvPr id="24" name="Chevron 23"/>
          <p:cNvSpPr/>
          <p:nvPr/>
        </p:nvSpPr>
        <p:spPr>
          <a:xfrm>
            <a:off x="8485403" y="2057400"/>
            <a:ext cx="237744" cy="310896"/>
          </a:xfrm>
          <a:prstGeom prst="chevron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46320"/>
            <a:ext cx="11094415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45720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051C2C"/>
                </a:solidFill>
                <a:latin typeface="Arial"/>
              </a:rPr>
              <a:t>Why this matters: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every downstream feature is expressed in physical millimeter coordinates along the track — the model learns physics, not sensor artifacts.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1">
                <a:solidFill>
                  <a:srgbClr val="757575"/>
                </a:solidFill>
                <a:latin typeface="Arial"/>
              </a:rPr>
              <a:t>Generative AI (LLM) was used transparently as a collaborative coding tool: designing the leveling math, debugging dataframe alignment, and refining visualizations.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METHOD — STEPS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Building a common coordinate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318607" cy="411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STEP 1 — MATHEMATICAL 3D LEVELING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40864"/>
            <a:ext cx="50442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051C2C"/>
                </a:solidFill>
                <a:latin typeface="Georgia"/>
              </a:rPr>
              <a:t>Recover the true track from a tilted, warped substrate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509000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Raw profilometer scans carry significant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planar tilt</a:t>
            </a:r>
            <a:r>
              <a:rPr sz="1300" b="0" i="0">
                <a:solidFill>
                  <a:srgbClr val="0A0A0A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We isolate the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bare substrate edges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(non-track regions) and fit a 2D plane via linear regression.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Subtracting the fitted plane levels the substrate to ≈ 0, exposing the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true deposited height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— our ground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783080"/>
            <a:ext cx="5318607" cy="4114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1993392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051C2C"/>
                </a:solidFill>
                <a:latin typeface="Arial"/>
              </a:rPr>
              <a:t>STEP 2 — SPATIAL–TEMPORAL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340864"/>
            <a:ext cx="50442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051C2C"/>
                </a:solidFill>
                <a:latin typeface="Georgia"/>
              </a:rPr>
              <a:t>Fuse video time with physical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246120"/>
            <a:ext cx="509000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Melt pool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length, width &amp; area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extracted from each thermal frame by intensity thresholding (value = 2000).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Constant scan speed (10 mm/s @ 50 fps) → each frame advances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0.2 mm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along the track.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Linear interpolation maps all 400 frames onto the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20–100 mm coordinates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of the leveled height profile.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1275" y="1783080"/>
            <a:ext cx="9144" cy="420624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METHOD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Feature engineering: physical memory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318607" cy="411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THERMAL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40864"/>
            <a:ext cx="50442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051C2C"/>
                </a:solidFill>
                <a:latin typeface="Georgia"/>
              </a:rPr>
              <a:t>DED is a continuous thermal process — not independent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509000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Rolling averages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of melt pool dimensions over 5- and 10-frame windows.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These act as a proxy for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heat accumulation and cooling rate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at each point along the path.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Captures the longitudinal variation a single frame cannot see.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783080"/>
            <a:ext cx="5318607" cy="4114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1993392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051C2C"/>
                </a:solidFill>
                <a:latin typeface="Arial"/>
              </a:rPr>
              <a:t>SUBSTRATE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340864"/>
            <a:ext cx="50442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051C2C"/>
                </a:solidFill>
                <a:latin typeface="Georgia"/>
              </a:rPr>
              <a:t>The surface the laser lands on shapes what it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291840"/>
            <a:ext cx="509000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Localized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SEM intensity and SEM roughness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matrices extracted from masked SEM imagery.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Quantifies the </a:t>
            </a:r>
            <a:r>
              <a:rPr sz="1300" b="1" i="0">
                <a:solidFill>
                  <a:srgbClr val="0A0A0A"/>
                </a:solidFill>
                <a:latin typeface="Arial"/>
              </a:rPr>
              <a:t>topographical foundation</a:t>
            </a:r>
            <a:r>
              <a:rPr sz="1300" b="0" i="0">
                <a:solidFill>
                  <a:srgbClr val="0A0A0A"/>
                </a:solidFill>
                <a:latin typeface="Arial"/>
              </a:rPr>
              <a:t> prior to deposition — gouges, texture, reflectivity.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</a:rPr>
              <a:t>Track region masked out to strictly avoid output leakage.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1275" y="1783080"/>
            <a:ext cx="9144" cy="420624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The model tracks real variation across four recipes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757575"/>
                </a:solidFill>
                <a:latin typeface="Arial"/>
              </a:rPr>
              <a:t>EXHIBIT 1 — ACTUAL VS PREDICTED TRACK HEIGHT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2632" y="1874520"/>
            <a:ext cx="5244134" cy="4251959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52" y="1920240"/>
            <a:ext cx="5152694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182880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0" i="0">
                <a:solidFill>
                  <a:srgbClr val="2251FF"/>
                </a:solidFill>
                <a:latin typeface="Georgia"/>
              </a:rPr>
              <a:t>21.18 µm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Mean Absolute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288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0" i="0">
                <a:solidFill>
                  <a:srgbClr val="051C2C"/>
                </a:solidFill>
                <a:latin typeface="Georgia"/>
              </a:rPr>
              <a:t>0.41</a:t>
            </a:r>
            <a:r>
              <a:rPr sz="1400" b="0" i="0">
                <a:solidFill>
                  <a:srgbClr val="757575"/>
                </a:solidFill>
                <a:latin typeface="Arial"/>
              </a:rPr>
              <a:t>  R²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held-out test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5128" y="1874519"/>
            <a:ext cx="9144" cy="86868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971800"/>
            <a:ext cx="4937760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200400"/>
            <a:ext cx="49377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250" b="1" i="0">
                <a:solidFill>
                  <a:srgbClr val="0A0A0A"/>
                </a:solidFill>
                <a:latin typeface="Arial"/>
              </a:rPr>
              <a:t>Random Forest Regressor</a:t>
            </a:r>
            <a:r>
              <a:rPr sz="1250" b="0" i="0">
                <a:solidFill>
                  <a:srgbClr val="0A0A0A"/>
                </a:solidFill>
                <a:latin typeface="Arial"/>
              </a:rPr>
              <a:t> — 150 estimators, max depth 12, 80/20 train–test split.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Trained jointly on </a:t>
            </a:r>
            <a:r>
              <a:rPr sz="1250" b="1" i="0">
                <a:solidFill>
                  <a:srgbClr val="0A0A0A"/>
                </a:solidFill>
                <a:latin typeface="Arial"/>
              </a:rPr>
              <a:t>Tracks 8, 10, 14 &amp; 21</a:t>
            </a:r>
            <a:r>
              <a:rPr sz="1250" b="0" i="0">
                <a:solidFill>
                  <a:srgbClr val="0A0A0A"/>
                </a:solidFill>
                <a:latin typeface="Arial"/>
              </a:rPr>
              <a:t> to generalize across laser powers and scan speeds.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Captures longitudinal variation via thermal rolling averages and constrains boundaries via melt pool width.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Validated directly against </a:t>
            </a:r>
            <a:r>
              <a:rPr sz="1250" b="1" i="0">
                <a:solidFill>
                  <a:srgbClr val="0A0A0A"/>
                </a:solidFill>
                <a:latin typeface="Arial"/>
              </a:rPr>
              <a:t>leveled profilometer ground truth</a:t>
            </a:r>
            <a:r>
              <a:rPr sz="1250" b="0" i="0">
                <a:solidFill>
                  <a:srgbClr val="0A0A0A"/>
                </a:solidFill>
                <a:latin typeface="Arial"/>
              </a:rPr>
              <a:t> in physical µm.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THE 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The substrate — not the melt pool — drives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757575"/>
                </a:solidFill>
                <a:latin typeface="Arial"/>
              </a:rPr>
              <a:t>EXHIBIT 2 — RANDOM FOREST FEATURE IMPORTANCE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199" y="1939355"/>
            <a:ext cx="6629400" cy="3985129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85075"/>
            <a:ext cx="6537960" cy="38936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20240"/>
            <a:ext cx="41148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920240"/>
            <a:ext cx="4114800" cy="411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221284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WHAT THE FOREST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560320"/>
            <a:ext cx="3566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051C2C"/>
                </a:solidFill>
                <a:latin typeface="Georgia"/>
              </a:rPr>
              <a:t>SEM intensity is the single most dominant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3566160"/>
            <a:ext cx="3566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 i="0">
                <a:solidFill>
                  <a:srgbClr val="2251FF"/>
                </a:solidFill>
                <a:latin typeface="Arial"/>
              </a:rPr>
              <a:t>1.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Substrate texture governs heat dissipation and liquid metal flow.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 i="0">
                <a:solidFill>
                  <a:srgbClr val="2251FF"/>
                </a:solidFill>
                <a:latin typeface="Arial"/>
              </a:rPr>
              <a:t>2.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Thermal history (rolling melt pool areas) ranks next — heat buildup matters.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50" b="1" i="0">
                <a:solidFill>
                  <a:srgbClr val="2251FF"/>
                </a:solidFill>
                <a:latin typeface="Arial"/>
              </a:rPr>
              <a:t>3.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Instantaneous melt pool size alone is the weakest signal.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Limitations &amp; uncertainty: physics pushes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309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00" b="1" i="0">
                <a:solidFill>
                  <a:srgbClr val="0A0A0A"/>
                </a:solidFill>
                <a:latin typeface="Arial"/>
              </a:rPr>
              <a:t>Thermal warping:</a:t>
            </a:r>
            <a:r>
              <a:rPr sz="1400" b="0" i="0">
                <a:solidFill>
                  <a:srgbClr val="0A0A0A"/>
                </a:solidFill>
                <a:latin typeface="Arial"/>
              </a:rPr>
              <a:t> the metal substrate bows during printing, so a perfectly rigid 2D plane fit cannot capture all deformation.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00" b="1" i="0">
                <a:solidFill>
                  <a:srgbClr val="0A0A0A"/>
                </a:solidFill>
                <a:latin typeface="Arial"/>
              </a:rPr>
              <a:t>Deep gouges</a:t>
            </a:r>
            <a:r>
              <a:rPr sz="1400" b="0" i="0">
                <a:solidFill>
                  <a:srgbClr val="0A0A0A"/>
                </a:solidFill>
                <a:latin typeface="Arial"/>
              </a:rPr>
              <a:t> in the substrate produce some negative ground-truth heights (down to −40 µm) after leveling.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00" b="1" i="0">
                <a:solidFill>
                  <a:srgbClr val="0A0A0A"/>
                </a:solidFill>
                <a:latin typeface="Arial"/>
              </a:rPr>
              <a:t>Model uncertainty </a:t>
            </a:r>
            <a:r>
              <a:rPr sz="1400" b="0" i="0">
                <a:solidFill>
                  <a:srgbClr val="0A0A0A"/>
                </a:solidFill>
                <a:latin typeface="Arial"/>
              </a:rPr>
              <a:t>grows in regions of extreme substrate deformation — exactly where the plane assumption weakens.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00" b="0" i="0">
                <a:solidFill>
                  <a:srgbClr val="051C2C"/>
                </a:solidFill>
                <a:latin typeface="Arial"/>
              </a:rPr>
              <a:t>▪  </a:t>
            </a:r>
            <a:r>
              <a:rPr sz="1400" b="0" i="0">
                <a:solidFill>
                  <a:srgbClr val="0A0A0A"/>
                </a:solidFill>
                <a:latin typeface="Arial"/>
              </a:rPr>
              <a:t>R² = 0.41 reflects genuine stochasticity in DED, not just model error — a meaningful signal in a noisy physical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9480" y="1828800"/>
            <a:ext cx="4343400" cy="4160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1828800"/>
            <a:ext cx="4343400" cy="4114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212140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051C2C"/>
                </a:solidFill>
                <a:latin typeface="Arial"/>
              </a:rPr>
              <a:t>IF WE HAD MORE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514600"/>
            <a:ext cx="3794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Replace the rigid plane with a flexible spline / polynomial surface to absorb warping.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Quantify prediction intervals per location (e.g., quantile forests).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Extend from height to full width &amp; boundary-position descriptors.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0" i="0">
                <a:solidFill>
                  <a:srgbClr val="757575"/>
                </a:solidFill>
                <a:latin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</a:rPr>
              <a:t>Validate across additional tracks and unseen laser recipes.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79" y="320040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051C2C"/>
                </a:solidFill>
                <a:latin typeface="Georgia"/>
              </a:rPr>
              <a:t>Thermal monitoring alone is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1097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251FF"/>
                </a:solidFill>
                <a:latin typeface="Georgia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87168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33472"/>
            <a:ext cx="32409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51C2C"/>
                </a:solidFill>
                <a:latin typeface="Arial"/>
              </a:rPr>
              <a:t>Fusion is the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1952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Only by combining thermal history with substrate surface awareness can DED geometry be predicted reliably.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2498" y="17830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251FF"/>
                </a:solidFill>
                <a:latin typeface="Georgia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2498" y="2487168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2498" y="2633472"/>
            <a:ext cx="32409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51C2C"/>
                </a:solidFill>
                <a:latin typeface="Arial"/>
              </a:rPr>
              <a:t>Physics-grounded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498" y="3246120"/>
            <a:ext cx="31952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Automated 3D leveling + spatial–temporal alignment turned three incompatible sensors into one physical dataset.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2186" y="1783080"/>
            <a:ext cx="9144" cy="27432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0636" y="17830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251FF"/>
                </a:solidFill>
                <a:latin typeface="Georgia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0636" y="2487168"/>
            <a:ext cx="502920" cy="20116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0636" y="2633472"/>
            <a:ext cx="32409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51C2C"/>
                </a:solidFill>
                <a:latin typeface="Arial"/>
              </a:rPr>
              <a:t>Quantified &amp;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0636" y="3246120"/>
            <a:ext cx="31952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0A0A0A"/>
                </a:solidFill>
                <a:latin typeface="Arial"/>
              </a:rPr>
              <a:t>MAE of 21.18 µm and R² of 0.41 against leveled profilometer ground truth, generalized over 4 laser recipes.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80324" y="1783080"/>
            <a:ext cx="9144" cy="27432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94415" cy="12801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Georgia"/>
              </a:rPr>
              <a:t>“The foundation a part is built on matters as much as the energy used to build it.”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A9F4"/>
                </a:solidFill>
                <a:latin typeface="Arial"/>
              </a:rPr>
              <a:t>Thank you — Questions?</a:t>
            </a:r>
            <a:r>
              <a:rPr sz="1100" b="0" i="0">
                <a:solidFill>
                  <a:srgbClr val="9FB4C2"/>
                </a:solidFill>
                <a:latin typeface="Arial"/>
              </a:rPr>
              <a:t>    |    github.com/alphons3t/nsf-chuds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19088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757575"/>
                </a:solidFill>
                <a:latin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</a:rPr>
              <a:t>Team analysis of NSF FMRG multimodal DED dataset (Zenodo 10.5281/zenodo.21285367)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05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